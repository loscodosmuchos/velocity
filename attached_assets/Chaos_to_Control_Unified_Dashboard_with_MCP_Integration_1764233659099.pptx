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07309"/>
            <a:ext cx="2800350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FFFFF"/>
                </a:solidFill>
              </a:rPr>
              <a:t>Chaos to</a:t>
            </a:r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FFFFF"/>
                </a:solidFill>
              </a:rPr>
              <a:t>Control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571500" y="2453180"/>
            <a:ext cx="2800350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24" dirty="0">
                <a:solidFill>
                  <a:srgbClr val="00D9FF"/>
                </a:solidFill>
              </a:rPr>
              <a:t>Unified Dashboard with MCP Integration</a:t>
            </a:r>
            <a:endParaRPr lang="en-US" sz="1924" dirty="0"/>
          </a:p>
        </p:txBody>
      </p:sp>
      <p:sp>
        <p:nvSpPr>
          <p:cNvPr id="5" name="Text 2"/>
          <p:cNvSpPr/>
          <p:nvPr/>
        </p:nvSpPr>
        <p:spPr>
          <a:xfrm>
            <a:off x="571500" y="3336103"/>
            <a:ext cx="28003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0E6ED"/>
                </a:solidFill>
              </a:rPr>
              <a:t>Transforming fragmented complexity into actionable clarity for the Velocity project deployment</a:t>
            </a:r>
            <a:endParaRPr lang="en-US" sz="1269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28625"/>
            <a:ext cx="5057775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785813"/>
            <a:ext cx="3014663" cy="35718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43350" y="40016"/>
            <a:ext cx="462915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MCP—The Integration Layer That Makes Unified Dashboards Possible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3943350" y="1388706"/>
            <a:ext cx="46291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What MCP Does</a:t>
            </a:r>
            <a:endParaRPr lang="en-US" sz="1397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1803043"/>
            <a:ext cx="85725" cy="857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14800" y="1760181"/>
            <a:ext cx="44577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0E6ED"/>
                </a:solidFill>
              </a:rPr>
              <a:t>Standardized integration protocol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 to unify API data across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systems</a:t>
            </a:r>
            <a:endParaRPr lang="en-US" sz="987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2303106"/>
            <a:ext cx="85725" cy="857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114800" y="2260243"/>
            <a:ext cx="44577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0E6ED"/>
                </a:solidFill>
              </a:rPr>
              <a:t>Hub-and-spoke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: connect each tool once to MCP—no more point-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to-point spaghetti</a:t>
            </a:r>
            <a:endParaRPr lang="en-US" sz="987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350" y="2803168"/>
            <a:ext cx="85725" cy="857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114800" y="2760306"/>
            <a:ext cx="44577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0E6ED"/>
                </a:solidFill>
              </a:rPr>
              <a:t>Real-time and batch updates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 ensuring dashboards reflect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current reality while minimizing API rate limit issues</a:t>
            </a:r>
            <a:endParaRPr lang="en-US" sz="987" dirty="0"/>
          </a:p>
        </p:txBody>
      </p:sp>
      <p:sp>
        <p:nvSpPr>
          <p:cNvPr id="12" name="Text 5"/>
          <p:cNvSpPr/>
          <p:nvPr/>
        </p:nvSpPr>
        <p:spPr>
          <a:xfrm>
            <a:off x="3943350" y="3303231"/>
            <a:ext cx="46291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B894"/>
                </a:solidFill>
              </a:rPr>
              <a:t>Why MCP is Critical for Velocity</a:t>
            </a:r>
            <a:endParaRPr lang="en-US" sz="1397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3350" y="3717568"/>
            <a:ext cx="85725" cy="857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114800" y="3674706"/>
            <a:ext cx="44577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Velocity must integrate with Jira, Asana, NetSuite, SAP, ATS, HRIS, and staffing agencies—MCP makes this manageable</a:t>
            </a:r>
            <a:endParaRPr lang="en-US" sz="10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3350" y="4217631"/>
            <a:ext cx="85725" cy="8572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114800" y="4174768"/>
            <a:ext cx="44577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Reduces integration complexity by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70-80%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 compared to custom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API integrations</a:t>
            </a:r>
            <a:endParaRPr lang="en-US" sz="10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3350" y="4717693"/>
            <a:ext cx="85725" cy="8572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114800" y="4674831"/>
            <a:ext cx="44577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0E6ED"/>
                </a:solidFill>
              </a:rPr>
              <a:t>Enables the "Touch Once Principle" by ensuring data flows automatically across all systems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Dashboard Architecture—Five Data Sources, One Unified View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94454"/>
            <a:ext cx="8286750" cy="250031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57275" y="4037670"/>
            <a:ext cx="285750" cy="28575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2"/>
          <p:cNvSpPr/>
          <p:nvPr/>
        </p:nvSpPr>
        <p:spPr>
          <a:xfrm>
            <a:off x="1057275" y="403767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1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428625" y="4394857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Deployment Progress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428625" y="4630601"/>
            <a:ext cx="15430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6ED"/>
                </a:solidFill>
              </a:rPr>
              <a:t>Asana MCP: 165-project portfolio health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2743200" y="4037670"/>
            <a:ext cx="285750" cy="28575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0" y="403767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2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2114550" y="4394857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MVP Development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2114550" y="4630601"/>
            <a:ext cx="15430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6ED"/>
                </a:solidFill>
              </a:rPr>
              <a:t>Jira MCP: Sprint velocity &amp; bug tracking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4429125" y="4037670"/>
            <a:ext cx="285750" cy="28575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4" name="Text 10"/>
          <p:cNvSpPr/>
          <p:nvPr/>
        </p:nvSpPr>
        <p:spPr>
          <a:xfrm>
            <a:off x="4429125" y="403767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3</a:t>
            </a:r>
            <a:endParaRPr lang="en-US" sz="1193" dirty="0"/>
          </a:p>
        </p:txBody>
      </p:sp>
      <p:sp>
        <p:nvSpPr>
          <p:cNvPr id="15" name="Text 11"/>
          <p:cNvSpPr/>
          <p:nvPr/>
        </p:nvSpPr>
        <p:spPr>
          <a:xfrm>
            <a:off x="3800475" y="4394857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Budget &amp; Procurement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3800475" y="4630601"/>
            <a:ext cx="15430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6ED"/>
                </a:solidFill>
              </a:rPr>
              <a:t>NetSuite/SAP: Real-time spend &amp; contracts</a:t>
            </a:r>
            <a:endParaRPr lang="en-US" sz="834" dirty="0"/>
          </a:p>
        </p:txBody>
      </p:sp>
      <p:sp>
        <p:nvSpPr>
          <p:cNvPr id="17" name="Shape 13"/>
          <p:cNvSpPr/>
          <p:nvPr/>
        </p:nvSpPr>
        <p:spPr>
          <a:xfrm>
            <a:off x="6115050" y="4037670"/>
            <a:ext cx="285750" cy="28575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8" name="Text 14"/>
          <p:cNvSpPr/>
          <p:nvPr/>
        </p:nvSpPr>
        <p:spPr>
          <a:xfrm>
            <a:off x="6115050" y="403767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4</a:t>
            </a:r>
            <a:endParaRPr lang="en-US" sz="1193" dirty="0"/>
          </a:p>
        </p:txBody>
      </p:sp>
      <p:sp>
        <p:nvSpPr>
          <p:cNvPr id="19" name="Text 15"/>
          <p:cNvSpPr/>
          <p:nvPr/>
        </p:nvSpPr>
        <p:spPr>
          <a:xfrm>
            <a:off x="5486400" y="4394857"/>
            <a:ext cx="1543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Workforce &amp; Onboarding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5486400" y="4823482"/>
            <a:ext cx="15430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6ED"/>
                </a:solidFill>
              </a:rPr>
              <a:t>Velocity/HRIS: Contractor lifecycle</a:t>
            </a:r>
            <a:endParaRPr lang="en-US" sz="834" dirty="0"/>
          </a:p>
        </p:txBody>
      </p:sp>
      <p:sp>
        <p:nvSpPr>
          <p:cNvPr id="21" name="Shape 17"/>
          <p:cNvSpPr/>
          <p:nvPr/>
        </p:nvSpPr>
        <p:spPr>
          <a:xfrm>
            <a:off x="7800975" y="4037670"/>
            <a:ext cx="285750" cy="28575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2" name="Text 18"/>
          <p:cNvSpPr/>
          <p:nvPr/>
        </p:nvSpPr>
        <p:spPr>
          <a:xfrm>
            <a:off x="7800975" y="403767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32"/>
                </a:solidFill>
              </a:rPr>
              <a:t>5</a:t>
            </a:r>
            <a:endParaRPr lang="en-US" sz="1193" dirty="0"/>
          </a:p>
        </p:txBody>
      </p:sp>
      <p:sp>
        <p:nvSpPr>
          <p:cNvPr id="23" name="Text 19"/>
          <p:cNvSpPr/>
          <p:nvPr/>
        </p:nvSpPr>
        <p:spPr>
          <a:xfrm>
            <a:off x="7172325" y="4394857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Risks &amp; Blockers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7172325" y="4630601"/>
            <a:ext cx="15430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0E6ED"/>
                </a:solidFill>
              </a:rPr>
              <a:t>Cross-System: Aggregated risk scoring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Real-World Example—How the Dashboard Prevents a Crisis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251552"/>
            <a:ext cx="7715250" cy="100012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8625" y="2394552"/>
            <a:ext cx="4036219" cy="342900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2480277"/>
            <a:ext cx="37504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Without Dashboard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71500" y="2844608"/>
            <a:ext cx="375046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IT schedules Active Directory upgrade in isolated system. Six project managers unaware of the dependency. Monday morning: upgrade begins, 6 projects suddenly blocked.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571500" y="3508977"/>
            <a:ext cx="37504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Senior PM spends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6B6B"/>
                </a:solidFill>
              </a:rPr>
              <a:t>4 hours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 in emergency meetings identifying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impacts and re-planning timelines.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571500" y="3980464"/>
            <a:ext cx="37504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Executives blindsided when Monday demo might be delayed due to infrastructure work they weren't aware of.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679156" y="2394552"/>
            <a:ext cx="4036219" cy="342900"/>
          </a:xfrm>
          <a:prstGeom prst="rect">
            <a:avLst/>
          </a:prstGeom>
          <a:solidFill>
            <a:srgbClr val="1E6F4E"/>
          </a:solidFill>
          <a:ln/>
        </p:spPr>
      </p:sp>
      <p:sp>
        <p:nvSpPr>
          <p:cNvPr id="11" name="Text 7"/>
          <p:cNvSpPr/>
          <p:nvPr/>
        </p:nvSpPr>
        <p:spPr>
          <a:xfrm>
            <a:off x="4822031" y="2480277"/>
            <a:ext cx="375046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With Dashboard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4822031" y="2844608"/>
            <a:ext cx="37504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IT creates upgrade task in Asana. Dashboard automatically scans 165 projects, identifies 6 dependencies.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4822031" y="3316095"/>
            <a:ext cx="37504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894"/>
                </a:solidFill>
              </a:rPr>
              <a:t>72 hours before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 upgrade, proactive alerts sent to all 6 PMs.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What-if analysis shows $2.3M in project value at risk.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4822031" y="3787583"/>
            <a:ext cx="37504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Senior PM reviews in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10 minutes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, escalates with data. Team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reschedules upgrade. Crisis averted, Monday demo proceeds.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571500" y="4509102"/>
            <a:ext cx="247650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96% faster</a:t>
            </a:r>
            <a:endParaRPr lang="en-US" sz="1808" dirty="0"/>
          </a:p>
        </p:txBody>
      </p:sp>
      <p:sp>
        <p:nvSpPr>
          <p:cNvPr id="16" name="Text 12"/>
          <p:cNvSpPr/>
          <p:nvPr/>
        </p:nvSpPr>
        <p:spPr>
          <a:xfrm>
            <a:off x="571500" y="4937727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6ED"/>
                </a:solidFill>
              </a:rPr>
              <a:t>Impact identification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3333759" y="4509102"/>
            <a:ext cx="247650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B894"/>
                </a:solidFill>
              </a:rPr>
              <a:t>0 projects</a:t>
            </a:r>
            <a:endParaRPr lang="en-US" sz="1808" dirty="0"/>
          </a:p>
        </p:txBody>
      </p:sp>
      <p:sp>
        <p:nvSpPr>
          <p:cNvPr id="18" name="Text 14"/>
          <p:cNvSpPr/>
          <p:nvPr/>
        </p:nvSpPr>
        <p:spPr>
          <a:xfrm>
            <a:off x="3333759" y="4937727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6ED"/>
                </a:solidFill>
              </a:rPr>
              <a:t>Impacted (vs. 6)</a:t>
            </a:r>
            <a:endParaRPr lang="en-US" sz="834" dirty="0"/>
          </a:p>
        </p:txBody>
      </p:sp>
      <p:sp>
        <p:nvSpPr>
          <p:cNvPr id="19" name="Text 15"/>
          <p:cNvSpPr/>
          <p:nvPr/>
        </p:nvSpPr>
        <p:spPr>
          <a:xfrm>
            <a:off x="6096019" y="4509102"/>
            <a:ext cx="247650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Zero surprise</a:t>
            </a:r>
            <a:endParaRPr lang="en-US" sz="1808" dirty="0"/>
          </a:p>
        </p:txBody>
      </p:sp>
      <p:sp>
        <p:nvSpPr>
          <p:cNvPr id="20" name="Text 16"/>
          <p:cNvSpPr/>
          <p:nvPr/>
        </p:nvSpPr>
        <p:spPr>
          <a:xfrm>
            <a:off x="6096019" y="4937727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6ED"/>
                </a:solidFill>
              </a:rPr>
              <a:t>Full executive visibility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001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Implementation Roadmap—From Concept to Reality in 4 Phases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54463"/>
            <a:ext cx="3043238" cy="3214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86175" y="1253030"/>
            <a:ext cx="714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Phase 1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4486275" y="1253030"/>
            <a:ext cx="40862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Foundation (Week 1-2)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4486275" y="1517349"/>
            <a:ext cx="40862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Set up MCP servers for Asana and Jira, create PostgreSQL database with RLS, deploy minimal dashboard showing 165-project portfolio health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3686175" y="2100263"/>
            <a:ext cx="714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Phase 2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486275" y="2100263"/>
            <a:ext cx="40862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Expansion (Week 3-4)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4486275" y="2364581"/>
            <a:ext cx="40862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Add NetSuite/SAP and HRIS integrations, implement hybrid search with pgvector, create automated Slack/Teams alerts, build executive KPI views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3686175" y="2947495"/>
            <a:ext cx="714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Phase 3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4486275" y="2947495"/>
            <a:ext cx="40862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Intelligence (Week 5-6)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4486275" y="3211813"/>
            <a:ext cx="40862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Integrate AI-powered predictive analytics, implement dependency analysis for cascading risks, add what-if scenario planning, create contractor performance scoring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3686175" y="3794727"/>
            <a:ext cx="714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Phase 4</a:t>
            </a:r>
            <a:endParaRPr lang="en-US" sz="1193" dirty="0"/>
          </a:p>
        </p:txBody>
      </p:sp>
      <p:sp>
        <p:nvSpPr>
          <p:cNvPr id="15" name="Text 11"/>
          <p:cNvSpPr/>
          <p:nvPr/>
        </p:nvSpPr>
        <p:spPr>
          <a:xfrm>
            <a:off x="4486275" y="3794727"/>
            <a:ext cx="40862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Optimization (Week 7-8)</a:t>
            </a:r>
            <a:endParaRPr lang="en-US" sz="1090" dirty="0"/>
          </a:p>
        </p:txBody>
      </p:sp>
      <p:sp>
        <p:nvSpPr>
          <p:cNvPr id="16" name="Text 12"/>
          <p:cNvSpPr/>
          <p:nvPr/>
        </p:nvSpPr>
        <p:spPr>
          <a:xfrm>
            <a:off x="4486275" y="4059045"/>
            <a:ext cx="40862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Fine-tune sync frequencies, implement caching for sub-2-second load times, add custom stakeholder views, conduct user training for 90%+ adoption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3686175" y="4727684"/>
            <a:ext cx="48863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B894"/>
                </a:solidFill>
              </a:rPr>
              <a:t>Success Metrics: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Dashboard load &lt;2s • 15-min data sync • 90%+ user adoption •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6ED"/>
                </a:solidFill>
              </a:rPr>
              <a:t>25+ hrs/week saved • Zero surprise delays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2025-11-20T19:18:15Z</dcterms:created>
  <dcterms:modified xsi:type="dcterms:W3CDTF">2025-11-20T19:18:15Z</dcterms:modified>
</cp:coreProperties>
</file>